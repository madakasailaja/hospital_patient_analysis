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83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671A2-36F7-449F-B4D1-AFCAD944D38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544EE-C66A-4FD1-ACC7-96941332B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524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44EE-C66A-4FD1-ACC7-96941332BAE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786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9658-EA43-2CA2-3C04-126B1E41F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0E865-AE6A-B06D-F893-2135A190A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29428-FD95-B82D-E8A5-B4F1D76C4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1DA14-3CE1-4DE6-96A6-5DCA976A616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99D9E-8B67-2B08-54E9-8C06B9D5F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42BBD-66FD-7677-A221-71782403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B459-BDDD-4193-896A-E4EC223F9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46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DB655-6491-34C7-9047-0F7309A7F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025B3-5D8F-8EBA-3A15-F5A6325F9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FBD7B-25ED-4B9F-DDF4-5424D13B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1DA14-3CE1-4DE6-96A6-5DCA976A616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DC5AF-47C2-6AF6-0ED0-98EBE0328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3FB38-BAF4-F2B3-7EAB-B8498C3F5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B459-BDDD-4193-896A-E4EC223F9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893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870CE-EA16-ECAC-D844-2DABF7A3B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BE3F1-91D8-C9D1-922F-2339345D7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1FC51-EEB7-5377-385B-B213774B5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1DA14-3CE1-4DE6-96A6-5DCA976A616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C485E-4BC7-626E-EE9E-44178C0B9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0C91C-3FA8-6EC7-7F9C-85B478659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B459-BDDD-4193-896A-E4EC223F9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555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AB9A-F6A6-CE1B-BC42-148FB9CA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53FA4-B594-8683-FF27-6A402DD79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63BEC-16E0-E5B7-55C3-201E6DEBF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35BAC-9FE4-B6B6-D598-5DAC96FA4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1DA14-3CE1-4DE6-96A6-5DCA976A616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81260-1FB4-4709-B2CE-DC4CC6E4A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80FAA-4146-20FB-AB79-2574C09D3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B459-BDDD-4193-896A-E4EC223F9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189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BB32-AC77-1710-FFDA-D8E22E6B7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3C6DA-D0C4-8D72-90C1-67FA20D6B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4CC1E-5EF1-C206-DCA2-D69A28E9A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8DF28-7E0F-863B-95F2-235D63D25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7640FC-8041-1C36-09C9-183D64D2AE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E73956-76C3-7AE1-B596-79E5D1D9B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1DA14-3CE1-4DE6-96A6-5DCA976A616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67F7F5-6E69-2C57-05C4-1B4CF046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B6C78F-D50B-D623-23A7-B188AF9A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B459-BDDD-4193-896A-E4EC223F9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17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68EDF-DFCB-2928-5914-25DDF7462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4CD294-09A6-4C5E-98FB-D2180E93C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1DA14-3CE1-4DE6-96A6-5DCA976A616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D70AF-56DB-3756-5A5C-CD76B0AAE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09C2E-B4E5-E2B8-1536-A9F1FE9B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B459-BDDD-4193-896A-E4EC223F9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87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91870D-D3D5-798C-5608-2214AAE44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1DA14-3CE1-4DE6-96A6-5DCA976A616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BFA77-6CCD-B3A8-7182-889C519D6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5127A-08E9-BAFF-0723-ED448EEE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B459-BDDD-4193-896A-E4EC223F9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60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F4A7-4B74-2F73-98BC-24855111F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AFB3C-DADC-AE27-2EE3-009D50C70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7D882-20AF-C3C0-840C-A785D478A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BCF4C-19DB-F7D0-AD18-B1E55318A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1DA14-3CE1-4DE6-96A6-5DCA976A616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98E2D-C491-CFC5-36E8-C08E33778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B614E-8917-2A6B-F2D7-D19A74A8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B459-BDDD-4193-896A-E4EC223F9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737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A8B2B-6953-5322-E907-AD01E8313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018D85-7C51-AC18-26A4-8487A7254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EDC2C-94B7-4B5C-895B-20690CA95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0118D-C564-CAC1-9C1A-4448C96A7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1DA14-3CE1-4DE6-96A6-5DCA976A616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5AAFF-12CB-9784-CBC0-73F5B6470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767ED-9C10-0B0A-093E-F30CA3A8E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B459-BDDD-4193-896A-E4EC223F9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89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FDC1-9E00-F7B5-CD58-9F5F290EC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BBE7A-D204-7FED-E5A5-D5BC372DC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2B3AF-1D1B-1B4C-3A8A-3E9064F3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1DA14-3CE1-4DE6-96A6-5DCA976A616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C4B32-E0FD-B33C-4C45-E8E6F7C47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591C3-3BA7-8EE0-1BCB-810780123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B459-BDDD-4193-896A-E4EC223F9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177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3B1E1-2453-72AC-2768-2C9CF983B2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6254D-6DDF-9090-BC56-D7B945F90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ACC13-1AC1-1EC2-5123-DA91FACB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1DA14-3CE1-4DE6-96A6-5DCA976A616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BF04A-8046-92AD-7CC0-A8BA9668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A40E9-1DD1-0B50-981E-5FD381270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B459-BDDD-4193-896A-E4EC223F9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363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106B2-14F2-5686-70C8-E339048E2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F0388-272D-0D61-9F6B-EAEFF545F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3F29-E43B-5E34-7D5D-ECFA164388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1DA14-3CE1-4DE6-96A6-5DCA976A616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6F277-4AFE-1D3A-1D30-51E45E30D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F53F7-1FC5-7FE1-4616-A9501158E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5B459-BDDD-4193-896A-E4EC223F9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129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484B01-A50F-50AA-09A3-1919ECF0F6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43E75-F215-C33A-3A4F-DC6D709E9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" y="-304800"/>
            <a:ext cx="12283440" cy="7162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46C0E7-8FB9-0121-150E-1242453556EA}"/>
              </a:ext>
            </a:extLst>
          </p:cNvPr>
          <p:cNvSpPr txBox="1"/>
          <p:nvPr/>
        </p:nvSpPr>
        <p:spPr>
          <a:xfrm>
            <a:off x="1524000" y="2794297"/>
            <a:ext cx="10137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Algerian" panose="04020705040A02060702" pitchFamily="82" charset="0"/>
              </a:rPr>
              <a:t>HOSPITAL PATIENT ANALYSIS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97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06B9AEB-B7A1-DDEA-A07B-68BAFAF35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21B82-E6D8-1AF4-D371-1AD8C56489A1}"/>
              </a:ext>
            </a:extLst>
          </p:cNvPr>
          <p:cNvSpPr txBox="1"/>
          <p:nvPr/>
        </p:nvSpPr>
        <p:spPr>
          <a:xfrm>
            <a:off x="3126658" y="2064773"/>
            <a:ext cx="8481142" cy="3914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enables performance monitoring through indicators such as occupancy rate, patient volume, and average length of stay.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captures operational and clinical information related to patient admissions, discharges, and treatments.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set includes demographic details like age and gender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serves as the foundation for interactive BI dashboards and executive reporting</a:t>
            </a:r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FA6C7E-D192-6D96-C37E-0949D7D2B948}"/>
              </a:ext>
            </a:extLst>
          </p:cNvPr>
          <p:cNvSpPr txBox="1"/>
          <p:nvPr/>
        </p:nvSpPr>
        <p:spPr>
          <a:xfrm>
            <a:off x="5909186" y="698090"/>
            <a:ext cx="2595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27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5FEF00-16C8-36DA-097E-C4AA3FB7E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5C24F9-B268-DCE0-7274-82D5FDF85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965" y="938736"/>
            <a:ext cx="5419312" cy="13325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2D5A63-D3DF-A290-42F4-2F70A3F51E41}"/>
              </a:ext>
            </a:extLst>
          </p:cNvPr>
          <p:cNvSpPr txBox="1"/>
          <p:nvPr/>
        </p:nvSpPr>
        <p:spPr>
          <a:xfrm>
            <a:off x="1533832" y="176981"/>
            <a:ext cx="10530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Cards - Healthcare Performance – Key Metrics Overview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E1F6BCD-9D7C-E07C-76F5-2A2E1F801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0117" y="2271252"/>
            <a:ext cx="8190270" cy="4108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highlights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four critical KPIs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healthcare monitoring.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Cost (53K)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reflects the overall expenditure, useful for budgeting and financial analysis.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Satisfaction (3.60)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indicates patient feedback levels, guiding service quality improvements.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Length of Stay (7.66)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measures hospital efficiency and patient management.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Patients (984)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patient volume, helping track workload and healthcare demand.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028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0540EC-8108-7B54-6913-74B7F71F2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328"/>
            <a:ext cx="12192000" cy="56576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CD03AE-CA8B-ECA4-6777-F3C5835C8EF5}"/>
              </a:ext>
            </a:extLst>
          </p:cNvPr>
          <p:cNvSpPr txBox="1"/>
          <p:nvPr/>
        </p:nvSpPr>
        <p:spPr>
          <a:xfrm>
            <a:off x="254000" y="0"/>
            <a:ext cx="11607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Clustered Column Chart – Sum of Cost by length of stay and Condition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826188-395A-587D-BAFB-D30DEFB0F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199" y="1200326"/>
            <a:ext cx="5918201" cy="23429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36361F-9A37-30FB-F585-672AE391AD7C}"/>
              </a:ext>
            </a:extLst>
          </p:cNvPr>
          <p:cNvSpPr txBox="1"/>
          <p:nvPr/>
        </p:nvSpPr>
        <p:spPr>
          <a:xfrm>
            <a:off x="3844414" y="3677264"/>
            <a:ext cx="80173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shows the total treatment cost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different medical conditions based on the length of stay.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see that Hypertension has the highest total cost, followed by Respiratory Infection and Fractured Arm.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Allergic Reaction has the lowest cost among the conditions.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 helps hospital management understand which conditions require more spending and better resource planning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50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CD77EA-2C7A-080C-D05D-5CC0932E0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D57A56-B4EF-F341-2390-C0B52E5954A9}"/>
              </a:ext>
            </a:extLst>
          </p:cNvPr>
          <p:cNvSpPr txBox="1"/>
          <p:nvPr/>
        </p:nvSpPr>
        <p:spPr>
          <a:xfrm>
            <a:off x="2641600" y="0"/>
            <a:ext cx="9131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Gauge Chart – Avg Satisfaction and Min cost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644DB7-B637-F44A-AEC1-9AFF5D98F0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966" y="832465"/>
            <a:ext cx="4264332" cy="22646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CD5EFC-B215-5756-8AC6-297D5EF1B416}"/>
              </a:ext>
            </a:extLst>
          </p:cNvPr>
          <p:cNvSpPr txBox="1"/>
          <p:nvPr/>
        </p:nvSpPr>
        <p:spPr>
          <a:xfrm>
            <a:off x="3746089" y="3677265"/>
            <a:ext cx="817060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Score Shown: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chart shows a value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3.60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average satisfaction and minimum cost.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Scale Range: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runs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 to 7.20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so 3.60 is right in the middle.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Highlight: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blue arc makes it easy to see the current level at a glance.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mid range score suggests moderate satisfaction with balanced cost efficiency .</a:t>
            </a:r>
          </a:p>
        </p:txBody>
      </p:sp>
    </p:spTree>
    <p:extLst>
      <p:ext uri="{BB962C8B-B14F-4D97-AF65-F5344CB8AC3E}">
        <p14:creationId xmlns:p14="http://schemas.microsoft.com/office/powerpoint/2010/main" val="2018699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591B7D-D20F-EA6E-A5EE-0DBDA9889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E94A69-8E0C-0977-390A-7729A18AEC89}"/>
              </a:ext>
            </a:extLst>
          </p:cNvPr>
          <p:cNvSpPr txBox="1"/>
          <p:nvPr/>
        </p:nvSpPr>
        <p:spPr>
          <a:xfrm>
            <a:off x="2458064" y="0"/>
            <a:ext cx="959423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Clustered Column Chart – Count of Patient _ID by Condition and Outcome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A007FC-ACB8-4A96-6AD1-FBF122180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901" y="1101213"/>
            <a:ext cx="5447608" cy="21041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EA6B0F-76F3-7394-A066-3B777CA56604}"/>
              </a:ext>
            </a:extLst>
          </p:cNvPr>
          <p:cNvSpPr txBox="1"/>
          <p:nvPr/>
        </p:nvSpPr>
        <p:spPr>
          <a:xfrm>
            <a:off x="3637934" y="3429000"/>
            <a:ext cx="841436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 Compared: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chart shows patient counts for Stroke, Prostate Cancer, Respiratory Infection, and Osteoarthritis.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Shown: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Patients are grouped into Recovered (light blue) and Stable (dark blue).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Stroke has the highest stable count (66), while Prostate Cancer has the highest recovered count (65).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conditions lean toward patients being stable, with recovery standing out mainly in Prostate Cancer.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498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7EADED-AD5D-B35A-760D-135D952F4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5375FD-3E53-26CE-DA43-36739ACAFD14}"/>
              </a:ext>
            </a:extLst>
          </p:cNvPr>
          <p:cNvSpPr txBox="1"/>
          <p:nvPr/>
        </p:nvSpPr>
        <p:spPr>
          <a:xfrm>
            <a:off x="2969342" y="412955"/>
            <a:ext cx="8858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– Count of Patient _ID by Gender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1686DB-3220-E96F-AC9F-DAE50E3A7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955" y="1324897"/>
            <a:ext cx="5476567" cy="21041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E18E96-2A00-3B04-C6C2-363B4D22CECC}"/>
              </a:ext>
            </a:extLst>
          </p:cNvPr>
          <p:cNvSpPr txBox="1"/>
          <p:nvPr/>
        </p:nvSpPr>
        <p:spPr>
          <a:xfrm>
            <a:off x="4237703" y="3716594"/>
            <a:ext cx="77379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is about the count of patients by gender, showing how many are male and female.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Patients: There are 524 females, which is 53.25% of the total.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Patients: There are 460 males, making up 46.75% of the total.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patient group is almost balanced, but females form a slight majority. </a:t>
            </a:r>
          </a:p>
        </p:txBody>
      </p:sp>
    </p:spTree>
    <p:extLst>
      <p:ext uri="{BB962C8B-B14F-4D97-AF65-F5344CB8AC3E}">
        <p14:creationId xmlns:p14="http://schemas.microsoft.com/office/powerpoint/2010/main" val="853975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457FFC-192D-57EE-E255-FB1AF64E4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F788A6-3236-83AC-5DFD-79B5E1B93025}"/>
              </a:ext>
            </a:extLst>
          </p:cNvPr>
          <p:cNvSpPr txBox="1"/>
          <p:nvPr/>
        </p:nvSpPr>
        <p:spPr>
          <a:xfrm>
            <a:off x="3667432" y="191006"/>
            <a:ext cx="8367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Chart – Readmission Count by Age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48D5F-D753-56D3-BEB4-88B35E59A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632" y="842979"/>
            <a:ext cx="5786284" cy="25860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60C902-E86E-DAF8-C4E1-C7A41F521FD3}"/>
              </a:ext>
            </a:extLst>
          </p:cNvPr>
          <p:cNvSpPr txBox="1"/>
          <p:nvPr/>
        </p:nvSpPr>
        <p:spPr>
          <a:xfrm>
            <a:off x="3047999" y="3620006"/>
            <a:ext cx="922265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is about the readmission count by age, showing how hospital readmissions change across age groups.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Fluctuating Trend: The counts move between 31 and 34 as age increases from 40 to 80.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Lowest at age 50 (31), highest at ages 60 and 70 (34), then back to 33 at age 80.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Readmission rates are not constant—they rise and fall slightly with age, peaking around 60–70 years.</a:t>
            </a:r>
          </a:p>
        </p:txBody>
      </p:sp>
    </p:spTree>
    <p:extLst>
      <p:ext uri="{BB962C8B-B14F-4D97-AF65-F5344CB8AC3E}">
        <p14:creationId xmlns:p14="http://schemas.microsoft.com/office/powerpoint/2010/main" val="4053682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A932EC-5129-4857-5BDA-57527F772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351F52-AA74-EAB3-7A77-A115119274CD}"/>
              </a:ext>
            </a:extLst>
          </p:cNvPr>
          <p:cNvSpPr txBox="1"/>
          <p:nvPr/>
        </p:nvSpPr>
        <p:spPr>
          <a:xfrm>
            <a:off x="0" y="127819"/>
            <a:ext cx="12064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Column Chart – Readmission Count by Condition and Outcome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E5A65F-D763-F267-35F1-CAE4F911F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387" y="825910"/>
            <a:ext cx="6390968" cy="2076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A384F4-B865-5B83-6920-D9032B560123}"/>
              </a:ext>
            </a:extLst>
          </p:cNvPr>
          <p:cNvSpPr txBox="1"/>
          <p:nvPr/>
        </p:nvSpPr>
        <p:spPr>
          <a:xfrm>
            <a:off x="2900516" y="3175819"/>
            <a:ext cx="916366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is about the readmission count by condition and outcome, comparing different medical cases.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Attack: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 readmissions with 67 patients, mostly in the Stable outcome.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64 readmissions, mainly in the Recovered category.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Fractured Arm &amp; Stroke: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Both have 33 readmissions each, with Fractured Arm in Recovered and Stroke in Stable.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Serious conditions like Heart Attack and Heart Disease have higher readmission counts, while less severe cases show lower numbers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07818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383B75-AFAF-D0B9-5F54-0F22002C9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7EC45A-10DA-A3EC-2FD2-E49B7B850D3E}"/>
              </a:ext>
            </a:extLst>
          </p:cNvPr>
          <p:cNvSpPr txBox="1"/>
          <p:nvPr/>
        </p:nvSpPr>
        <p:spPr>
          <a:xfrm>
            <a:off x="1877961" y="0"/>
            <a:ext cx="9094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Donut Chart – Count of Patient _ID by Condition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5E61E-6D69-53EE-3D3E-AF087DA0D8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129" y="646331"/>
            <a:ext cx="6390967" cy="2467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D147CF-5E28-12D7-75C7-AD1F20F5191D}"/>
              </a:ext>
            </a:extLst>
          </p:cNvPr>
          <p:cNvSpPr txBox="1"/>
          <p:nvPr/>
        </p:nvSpPr>
        <p:spPr>
          <a:xfrm>
            <a:off x="3952568" y="3519948"/>
            <a:ext cx="8082116" cy="3056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is about the count of patients by medical condition, showing how patients are distributed across five conditions.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Stroke: Highest count with 66 patients (20.31%).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Kidney Stones, Prostate Cancer, Respiratory Infection: Each has 65 patients (20%), showing nearly equal distribution.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Osteoarthritis: Slightly lower with 64 patients (19.69%).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patient counts are almost evenly spread across all conditions, with only small differences. </a:t>
            </a:r>
          </a:p>
        </p:txBody>
      </p:sp>
    </p:spTree>
    <p:extLst>
      <p:ext uri="{BB962C8B-B14F-4D97-AF65-F5344CB8AC3E}">
        <p14:creationId xmlns:p14="http://schemas.microsoft.com/office/powerpoint/2010/main" val="798284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105B72-0F1B-B81A-B289-DAA27E1C0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8489"/>
            <a:ext cx="12192000" cy="69464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B06EB3-E88A-CB0C-3AD9-6FC0EDFC575C}"/>
              </a:ext>
            </a:extLst>
          </p:cNvPr>
          <p:cNvSpPr txBox="1"/>
          <p:nvPr/>
        </p:nvSpPr>
        <p:spPr>
          <a:xfrm>
            <a:off x="2546555" y="-88489"/>
            <a:ext cx="96454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– Avg length of Stay and Sum _of Cost by Gender and Condition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BD05BF-90E9-D184-CE25-4D7CB50DF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586" y="1111840"/>
            <a:ext cx="6292645" cy="22076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98DE5A-B946-A420-9EF6-39911CF73FAB}"/>
              </a:ext>
            </a:extLst>
          </p:cNvPr>
          <p:cNvSpPr txBox="1"/>
          <p:nvPr/>
        </p:nvSpPr>
        <p:spPr>
          <a:xfrm>
            <a:off x="2546556" y="3677264"/>
            <a:ext cx="9497960" cy="3168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Prostate Cancer: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cost and longest average stay, making it the most resource-intensive condition.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Kidney Stones: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lowest cost and shortest stay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minimal resource use.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Conditions: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Stroke, Osteoarthritis, and Respiratory Infection fall in between, with moderate costs and stay lengths.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chart highlights how different conditions impact hospital resources differently, with some requiring longer stays and higher costs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48961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B2EE32-9E39-B623-99E7-D5CBE0D39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8658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A88DE-A813-CD10-D35A-1E3946EA4A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291" y="949788"/>
            <a:ext cx="4837471" cy="143847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09C4B67-EC8A-BD5E-92EC-46D1AE5685F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54477" y="2637697"/>
            <a:ext cx="875071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chart is about the medical costs for different conditions, split by male and female patients.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Prostate Cancer: Shows a cost of 20,000, contributed only by male patients.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Respiratory Infection: Has a small cost of 800, coming only from female patients.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Stroke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10,000, again from male patients.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Costs are highest for Prostate Cancer and Stroke, while Respiratory Infection is minimal.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998BD2-17ED-B76C-9EEE-E8201CB87ED3}"/>
              </a:ext>
            </a:extLst>
          </p:cNvPr>
          <p:cNvSpPr txBox="1"/>
          <p:nvPr/>
        </p:nvSpPr>
        <p:spPr>
          <a:xfrm>
            <a:off x="3077496" y="39329"/>
            <a:ext cx="8750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- Avg Cost by Condition and Gender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642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CFE378-E606-C246-2468-3EA207309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82F661-4368-AB2C-EF97-0633D0E87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995" y="1065808"/>
            <a:ext cx="4226992" cy="1421754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4AC3B7D7-3E0A-96FF-D687-21620CDF3AE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871018" y="2639833"/>
            <a:ext cx="904567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interface displays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 dropdown selection boxes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designed for categorical data entry.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first box captures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 readmission status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options "Yes" or "No."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second box records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gender information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offering "Male" and "Female" choices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setup ensures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data collection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healthcare analysis and reporting.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categorical inputs are commonly used in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dashboards, patient records, and statistical studies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streamline data entry and maintain consistency.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E12178-3AC8-F98B-EEAC-4DC524849E0B}"/>
              </a:ext>
            </a:extLst>
          </p:cNvPr>
          <p:cNvSpPr txBox="1"/>
          <p:nvPr/>
        </p:nvSpPr>
        <p:spPr>
          <a:xfrm>
            <a:off x="1032387" y="88491"/>
            <a:ext cx="12443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Slicer - Patient Data Entry – Readmission &amp; Gender Selection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091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3D74C-BDD8-3B29-CF31-EF0968CC9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6" y="0"/>
            <a:ext cx="1218258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D570A8-002C-443B-52FC-678E79ADDB0C}"/>
              </a:ext>
            </a:extLst>
          </p:cNvPr>
          <p:cNvSpPr txBox="1"/>
          <p:nvPr/>
        </p:nvSpPr>
        <p:spPr>
          <a:xfrm>
            <a:off x="4807974" y="2320413"/>
            <a:ext cx="64991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latin typeface="Algerian" panose="04020705040A02060702" pitchFamily="82" charset="0"/>
              </a:rPr>
              <a:t>THANK YOU </a:t>
            </a:r>
            <a:endParaRPr lang="en-IN" sz="80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065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1424</TotalTime>
  <Words>1006</Words>
  <Application>Microsoft Office PowerPoint</Application>
  <PresentationFormat>Widescreen</PresentationFormat>
  <Paragraphs>68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Algerian</vt:lpstr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Madaka Sailaja</dc:creator>
  <cp:lastModifiedBy>Madaka Sailaja</cp:lastModifiedBy>
  <cp:revision>2</cp:revision>
  <dcterms:created xsi:type="dcterms:W3CDTF">2026-02-10T12:12:23Z</dcterms:created>
  <dcterms:modified xsi:type="dcterms:W3CDTF">2026-02-11T11:57:22Z</dcterms:modified>
</cp:coreProperties>
</file>